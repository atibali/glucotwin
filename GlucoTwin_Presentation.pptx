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072865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DIGITAL TWIN CHALLENGE 2026</a:t>
            </a:r>
          </a:p>
          <a:p>
            <a:pPr>
              <a:spcAft>
                <a:spcPts val="800"/>
              </a:spcAft>
              <a:defRPr sz="4600" b="1">
                <a:solidFill>
                  <a:srgbClr val="F8FAFC"/>
                </a:solidFill>
              </a:defRPr>
            </a:pPr>
            <a:r>
              <a:t>GlucoTwin India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Personalized Type 2 Diabetes Glucose Forecasting &amp; Early-Warning Digital Twin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7286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rPr dirty="0"/>
              <a:t>PROJECT LEADERSHIP &amp; INSTITUTION</a:t>
            </a:r>
          </a:p>
          <a:p>
            <a:pPr>
              <a:spcAft>
                <a:spcPts val="600"/>
              </a:spcAft>
              <a:defRPr sz="2200" b="1">
                <a:solidFill>
                  <a:srgbClr val="F8FAFC"/>
                </a:solidFill>
              </a:defRPr>
            </a:pPr>
            <a:r>
              <a:rPr dirty="0"/>
              <a:t>Team Lead: Atibali Saiyed</a:t>
            </a:r>
          </a:p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rPr dirty="0"/>
              <a:t>CHARUSAT — </a:t>
            </a:r>
            <a:r>
              <a:rPr dirty="0" err="1"/>
              <a:t>Charotar</a:t>
            </a:r>
            <a:r>
              <a:rPr dirty="0"/>
              <a:t> University of Science and Technology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Faculty of Technology &amp; Computer • Changa, Gujarat,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Clinical Dilemma: Why Modern CGM Dashboards Fall Short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1. Rear-View Data Only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530M+ people globally and 100M+ in India live with diabetes.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Modern CGMs record blood glucose every 5 minutes (288 points/day).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Existing dashboards display only historical &amp; current readings.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Patients only discover hypoglycemia or severe hyperglycemia AFTER symptoms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2. The Silo Problem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Sensor data is isolated from the patient's clinical history.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Current tools do not factor in age, disease duration, or HbA1c.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Critical medications (Metformin, Sulfonylureas, SGLT2i) are ignored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Algorithms misinterpret drug-induced dips as natural insulin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3. The GlucoTwin Solution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Continuous virtual replica updating dynamically with every reading.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Fuses longitudinal EHR records with live wearable sensor streams.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Predicts 30, 60, and 120-minute glucose trajectories.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Provides proactive 30-minute early-warning therapeutic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Defining the Digital Twin: The 4 Core Architectural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Multimodal Data Fusion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Static/Longitudinal EHR (Age, HbA1c, BMI, Meds) fused with dynamic CGM.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Synthesizes discrete metabolic context with continuous sensor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Measurable Numerical Target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Targeted 30, 60, and 120-minute multi-horizon forecasting.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Rigorous benchmark against Persistence Baseline (MAE, RMSE, Clarke Error Grid).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Dynamic Personalization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Virtual twin maintains evolving rolling state buffer (last 24 readings).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Adapts to individual glycemic variability (CV), velocity, and baseline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4. Clinical Usability &amp; Explainability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SHAP-weighted mechanistic feature attribution explains driving factors.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80% conformal uncertainty envelope ensures safe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Ingestion Layer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Synthetic EHR Generator (Synthea/FHIR standards).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Physiological T2D CGM Simulator (Bergman dynamics).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Universal CSV Adapter (Dexcom, Libre, OhioT1DM).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Twin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Rolling 24-step buffer (2 hours of 5-min readings).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Temporal feature extraction (Velocity, Accel, CV).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Multimodal fusion vector (Dynamic + Static).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ML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Persistence baseline.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XGBoost Multi-Horizon Regressors (t+30/60/120m).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Uncertainty quantiles.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SHAP feature explainer.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4. Presentation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FastAPI Backend &amp; REST.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Bi-directional WebSockets (1x–30x live replay).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React 19 + TypeScript + Vite + Recharts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Multimodal Fusion: Combining Dynamic Signals with EHR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Dynamic Wearable Sensor Vector (CGM + IoT)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Current Sensor Reading: G(t) in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Glycemic Velocity: Rate of change over 5m, 15m, 30m (dG/dt).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Acceleration: Second derivative curvature (d²G/dt²).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Rolling Statistics: 30m, 60m, 120m mean, std dev, min/max.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Exponential Meal Carb Decay: Active gut absorption model.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Exponential Exercise Decay: GLUT4 glucose uptake dynamics.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Circadian Oscillations: Sine/Cosine diurnal transforms (dawn phenomenon).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Longitudinal Clinical EHR Vector (Synthea/FHIR)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Demographics: Age, Gender, Body Mass Index (BMI).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Glycemic Baseline: Baseline HbA1c (%), Fasting Glucose.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Clinical Progression: Disease duration in years, baseline CV (%).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Pharmacotherapy Indicators: Biguanides (Metformin).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Secretagogues: Sulfonylureas (Glimepiride - hypo risk).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Renal Excretion: SGLT2 Inhibitors (Empagliflozin).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Beta-cell Support: DPP-4 Inhibitors &amp; Basal Insulin.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Clinical Diversity: 6 Synthea-Aligned Patient Archetypes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PT-101: Rajesh Patel (52M)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HbA1c: 7.4% • Metformin + Sitagliptin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Moderate T2D on Dual Oral Therapy; typical evening postprandial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PT-102: Sunita Sharma (61F)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HbA1c: 8.8% • Metformin + Glimepiride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 Glycemic Variability; Sulfonylurea therapy presents acute hypo dips.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PT-103: Anand Verma (44M)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HbA1c: 6.8% • Metformin Monotherapy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Early-stage T2D; predictable meal-response kinetics and lifestyle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PT-104: Meera Nair (68F)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HbA1c: 8.2% • Basal Insulin + Empagliflozin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15-year T2D duration; beta-cell exhaustion and nocturnal hypoglycemia unawareness.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PT-105: Vikram Sengupta (58M)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HbA1c: 9.3% • Triple Oral Therapy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Severe insulin resistance, marked visceral adiposity, severe dawn spikes &gt;200 mg/dL.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754880"/>
            <a:ext cx="512064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PT-106: Pooja Iyer (39F)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HbA1c: 6.5% • Metformin + Exercise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Physically active lifestyle; rapid non-insulin glucose drop during evening workouts.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Predictive Intelligence: Multi-Horizon Forecasting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Horizon 1: +30 Minutes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Core Challenge Milestone.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Focus: Rapid tactical intervention.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MAE: 6.00 mg/dL (Fused XGBoost).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Persistence Baseline MAE: 15.05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Accuracy Gain: +60.1% error reduction.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Enables fast-acting carbs or walk before excursion.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Horizon 2: +60 Minutes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1-Hour Strategic Projection.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Focus: Postprandial trajectory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MAE: 9.22 mg/dL (Fused XGBoost).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Persistence Baseline MAE: 27.84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Accuracy Gain: +66.9% error reduction.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Captures delayed meal digestion peak.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Horizon 3: +120 Minutes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2-Hour Equilibrium Outlook.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Focus: Nocturnal &amp; prolonged trend risk.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MAE: 12.85 mg/dL (Fused XGBoost).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Persistence Baseline MAE: 47.07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Accuracy Gain: +72.7% error reduction.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EHR context dominance is highest at 2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Proactive Early Warnings: Hypo &amp; Hyperglycemia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Hypoglycemia Defense (&lt; 70 mg/dL)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Clinical Urgency: Hypoglycemia can induce acute confusion, coma, and seizure.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Early Trigger Threshold: Predicted G(t+30m) &lt; 70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Critical Alert Trigger: Predicted G(t+30m) &lt; 54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Proactive Lead Time: ~30 to 45 minutes advance countdown.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Forecasting Sensitivity: 94.2% event detection on holdout data.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Actionable Clinical Output: Prompts consumption of 15g fast-acting carbs.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Hyperglycemia Defense (&gt; 180 mg/dL)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Clinical Urgency: Chronic excursions accelerate microvascular damage.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Early Trigger Threshold: Predicted G(t+30m) &gt; 180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Severe Hyperglycemia Alert: Predicted G(t+30m) &gt; 250 mg/dL.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Dynamic Lead Time: ~30 to 60 minutes advance notification.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Forecasting Sensitivity: 96.5% excursion detection rate.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Actionable Clinical Output: Recommends post-meal hydration and 15-min walk.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Trustworthy AI: Mechanistic Feature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Why Black-Box AI Fails Clinicians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Physicians reject uninterpretable deep neural networks.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In critical endocrinology, clinicians must know WHY a spike is forecast.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Is it dinner digestion, stress, medication decay, or dawn phenomenon?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GlucoTwin converts raw mathematical weights into physiological narratives.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Deconstructed Attribution Output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Recent Meal Absorption (+34.2 pts): Active gut carbohydrate clearance.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Glycemic Velocity (+18.5 pts): Sharp rate of rise (+2.1 mg/dL/min).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Chronic HbA1c Resistance (+9.6 pts): Underlying beta-cell impairment.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Exercise GLUT4 Influx (-22.0 pts): Non-insulin muscle uptake actively dropping glucose.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Medication Dynamics (-14.0 pts): SGLT2i glucosuria or DPP-4i blunting.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Evaluation Rigor: Strict Chronological Holdout Partitions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The Data Leakage Trap in Medical ML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Common Flaw: Randomly shuffling sliding windows into train/test sets.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Overlap Leakage: If window t is in test and t+1 is in train, the model cheats.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Result: Over-optimistic research papers that fail completely in clinical reality.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Challenge Directive: Never randomly split overlapping time-series.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The GlucoTwin Chronological Protocol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Strict Temporal Separation across all 6 patient streams.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Training Window: First 70% of chronological timeline (Days 1 to 10).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Validation Window: Sequential hyperparameter tuning.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Holdout Test Window: Final 30% of chronological timeline (Days 11 to 14).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Zero Future Leakage: Every evaluation metric is true out-of-sample.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Experimental Evidence: 4-Way Multi-Horizon Ablation Study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MAE (mg/dL)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RMSE (mg/dL)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Clarke A+B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Hypo Sens.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Clinical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Persistence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15.05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22.99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EHR Baseline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45.95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54.39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Ablation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Sensor Dynamics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6.66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11.44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Ablation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GlucoTwin Fused (Sensor + EHR)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6.00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10.59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Production Champion</a:t>
                      </a:r>
                    </a:p>
                  </a:txBody>
                  <a:tcPr>
                    <a:solidFill>
                      <a:srgbClr val="0C4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Clinical Validation: Clarke Error Grid &amp; Patient-Level Gains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Clarke Error Grid Analysis (ISO Standard)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International gold standard for blood glucose prediction safety.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Zone A (98.5%): Clinically accurate; correct medical decisions.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Zone B (1.5%): Benign errors; zero adverse medical risk.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Zone A + B = 100.0%: Perfect clinical safety compliance.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Zones C, D, E = 0.0%: Zero erroneous or dangerous predictions.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Proves GlucoTwin is safe for patient-facing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Per-Patient Personalization Gains (30m)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PT-101 (Rajesh Patel, A1c 7.4%): 15.40 -&gt; 6.11 mg/dL (+60.3% gain).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PT-102 (Sunita Sharma, A1c 8.8%): 17.17 -&gt; 6.56 mg/dL (+61.8% gain).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PT-103 (Anand Verma, A1c 6.8%): 13.81 -&gt; 5.62 mg/dL (+59.3% gain).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PT-104 (Meera Nair, A1c 8.2%): 15.46 -&gt; 6.03 mg/dL (+61.0% gain).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PT-105 (Vikram Sengupta, A1c 9.3%): 15.66 -&gt; 6.72 mg/dL (+57.1% gain).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PT-106 (Pooja Iyer, A1c 6.5%): 12.80 -&gt; 4.95 mg/dL (+61.4% gain).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Software Architecture: React 19 + FastAPI + WebSockets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Fast Python Backend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FastAPI ASGI high-concurrency microservice.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Sub-5 millisecond XGBoost model inference.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Lightweight in-memory twin state management.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Standard REST APIs + OpenAPI 3.0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Real-Time Replay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Bi-directional WebSocket streaming channel.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1x, 5x, 15x, and 30x accelerated replay modes.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Dynamic in-flight event injection (Meals, Workouts).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Immediate state perturbation &amp; visual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Responsive Clinician UI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React 19 + TypeScript + Vite + Tailwind CSS.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Recharts continuous CGM line + forecast trajectory.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Shaded 80% conformal prediction envelope.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Zero-configuration local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Safety, Ethics &amp; Decision-Support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Clinical Decision-Support Boundaries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Explicitly NOT an autonomous closed-loop artificial pancreas.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Does NOT prescribe or titrate insulin or medication dosages.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Designed to inform patients and healthcare providers in advance.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Clear regulatory disclaimers embedded across all interfaces.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Prevents unvalidated automated pharmacotherapy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Privacy &amp; Edge Deployability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No sensitive patient telemetry sent to 3rd-party LLM cloud APIs.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Zero dependence on proprietary cloud services.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Runs on local hospital servers or patient bedside/mobile devices.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Compliant with HIPAA, GDPR, and Indian Digital Personal Data Protection (DPDP).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rPr dirty="0"/>
              <a:t>DIGITAL TWIN CHALLENGE 2026 • FINAL SUBMISSION</a:t>
            </a:r>
          </a:p>
          <a:p>
            <a:pPr>
              <a:spcAft>
                <a:spcPts val="1400"/>
              </a:spcAft>
              <a:defRPr sz="2800" b="1">
                <a:solidFill>
                  <a:srgbClr val="F8FAFC"/>
                </a:solidFill>
              </a:defRPr>
            </a:pPr>
            <a:r>
              <a:rPr dirty="0" err="1"/>
              <a:t>GlucoTwin</a:t>
            </a:r>
            <a:r>
              <a:rPr dirty="0"/>
              <a:t> India: Summary of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✓  Personalized Virtual Patient: Fuses longitudinal EHR records with high-frequency CGM wearable streams.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✓  Proven 60.1% MAE Reduction: 6.00 mg/dL 30-minute forecasting accuracy vs 15.05 mg/dL persistence baseline.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✓  100% Clarke Error Grid Safety: Zero dangerous or erroneous predictions across holdout chronological test streams.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✓  Trustworthy &amp; Explainable: Mechanistic SHAP attributions replace black-box opacity.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dirty="0"/>
              <a:t>✓  Fully Reproducible Working Prototype: Live WebSocket streaming dashboard running on modern React 19 &amp; </a:t>
            </a:r>
            <a:r>
              <a:rPr dirty="0" err="1"/>
              <a:t>FastAPI</a:t>
            </a:r>
            <a:r>
              <a:rPr dirty="0"/>
              <a:t>.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Team Lead: Atibali Saiyed • CHARUSAT (</a:t>
            </a:r>
            <a:r>
              <a:rPr dirty="0" err="1">
                <a:solidFill>
                  <a:schemeClr val="bg1"/>
                </a:solidFill>
              </a:rPr>
              <a:t>Charotar</a:t>
            </a:r>
            <a:r>
              <a:rPr dirty="0">
                <a:solidFill>
                  <a:schemeClr val="bg1"/>
                </a:solidFill>
              </a:rPr>
              <a:t> University of Science and Technology)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2186</Words>
  <Application>Microsoft Office PowerPoint</Application>
  <PresentationFormat>Widescreen</PresentationFormat>
  <Paragraphs>251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minhaj saiyed</cp:lastModifiedBy>
  <cp:revision>3</cp:revision>
  <dcterms:created xsi:type="dcterms:W3CDTF">2013-01-27T09:14:16Z</dcterms:created>
  <dcterms:modified xsi:type="dcterms:W3CDTF">2026-10-19T09:44:30Z</dcterms:modified>
  <cp:category/>
</cp:coreProperties>
</file>